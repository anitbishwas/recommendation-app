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9202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1460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3484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B58A"/>
                </a:solidFill>
              </a:rPr>
              <a:t>Shopify · Personalised Product Discovery via UTM-Targeted Quizzes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Built on Node.js · Express · MongoDB · Shopify Admin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743200" cy="438912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743200" cy="6400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819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C948"/>
                </a:solidFill>
              </a:rPr>
              <a:t>Generic storefronts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0312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Visitors land from specific campaigns but see the same generic catalog — no personalisation at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1417320"/>
            <a:ext cx="2743200" cy="438912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0712" y="1417320"/>
            <a:ext cx="2743200" cy="6400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5819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C948"/>
                </a:solidFill>
              </a:rPr>
              <a:t>Discovery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10312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Customers don't know which product fits their needs, leading to high bounce rates and low conversion.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8504" y="1417320"/>
            <a:ext cx="2743200" cy="438912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8504" y="1417320"/>
            <a:ext cx="2743200" cy="6400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5819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C948"/>
                </a:solidFill>
              </a:rPr>
              <a:t>No-code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10312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Merchants can't wire marketing UTM data to product recommendations without custom dev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1417320"/>
            <a:ext cx="2743200" cy="438912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26296" y="1417320"/>
            <a:ext cx="2743200" cy="6400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5819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C948"/>
                </a:solidFill>
              </a:rPr>
              <a:t>Lost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10312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Missed up-sell opportunities — the right product exists in the catalog but never reaches the right shopper.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A Shopify embedded app that turns UTM campaign data into personalised quiz-driven product recommendations — zero coding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2560320" cy="29260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56032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47472" cy="34747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UTM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1546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Visitor clicks a
campaign link with
utm_source / medium /
campaign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58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03120"/>
            <a:ext cx="2560320" cy="29260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103120"/>
            <a:ext cx="256032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2240280"/>
            <a:ext cx="347472" cy="34747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2219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Quiz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1546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App Proxy matches
UTM params to an
active campaign and
serves the quiz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58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103120"/>
            <a:ext cx="2560320" cy="29260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103120"/>
            <a:ext cx="256032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2240280"/>
            <a:ext cx="347472" cy="34747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2219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Scored Answers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1546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Each answer maps to
product tags + weights.
Scores accumulate
across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58A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103120"/>
            <a:ext cx="2560320" cy="29260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18320" y="2103120"/>
            <a:ext cx="256032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55480" y="2240280"/>
            <a:ext cx="347472" cy="34747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22219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2" y="31546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Top-scored products
fetched from Shopify
catalog and ranked
for the visitor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Admin UI — Campaign Manager &amp; Quiz Builder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303520" cy="525780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035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1F1"/>
                </a:solidFill>
              </a:rPr>
              <a:t>Shopify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Recommendation Engine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10512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8836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Campaigns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874520"/>
            <a:ext cx="1261872" cy="256032"/>
          </a:xfrm>
          <a:prstGeom prst="rect">
            <a:avLst/>
          </a:prstGeom>
          <a:solidFill>
            <a:srgbClr val="00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874520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+ Create campaign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286000"/>
            <a:ext cx="5084064" cy="256032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33172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D7A8C"/>
                </a:solidFill>
              </a:rPr>
              <a:t>Campaign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233172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D7A8C"/>
                </a:solidFill>
              </a:rPr>
              <a:t>UTM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33172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D7A8C"/>
                </a:solidFill>
              </a:rPr>
              <a:t>UTM 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331720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D7A8C"/>
                </a:solidFill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317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D7A8C"/>
                </a:solidFill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2560320"/>
            <a:ext cx="50840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" y="2919730"/>
            <a:ext cx="5084064" cy="6350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265176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Bold Lip Summer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265176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265176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paid_social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0752" y="2651760"/>
            <a:ext cx="640080" cy="201168"/>
          </a:xfrm>
          <a:prstGeom prst="rect">
            <a:avLst/>
          </a:prstGeom>
          <a:solidFill>
            <a:srgbClr val="D4EDE4"/>
          </a:solidFill>
          <a:ln>
            <a:solidFill>
              <a:srgbClr val="D4E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26517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C5E"/>
                </a:solidFill>
              </a:rPr>
              <a:t>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26517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Edit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" y="2926080"/>
            <a:ext cx="5084064" cy="365760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" y="3285490"/>
            <a:ext cx="5084064" cy="6350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0175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Skincare Starter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301752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62072" y="301752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newsletter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30752" y="3017520"/>
            <a:ext cx="640080" cy="201168"/>
          </a:xfrm>
          <a:prstGeom prst="rect">
            <a:avLst/>
          </a:prstGeom>
          <a:solidFill>
            <a:srgbClr val="D4EDE4"/>
          </a:solidFill>
          <a:ln>
            <a:solidFill>
              <a:srgbClr val="D4E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0752" y="3017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C5E"/>
                </a:solidFill>
              </a:rPr>
              <a:t>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3017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Edit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" y="3291840"/>
            <a:ext cx="50840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" y="3651250"/>
            <a:ext cx="5084064" cy="6350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" y="338328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Foundation Finder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93392" y="338328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google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62072" y="338328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cpc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30752" y="3383280"/>
            <a:ext cx="640080" cy="201168"/>
          </a:xfrm>
          <a:prstGeom prst="rect">
            <a:avLst/>
          </a:prstGeom>
          <a:solidFill>
            <a:srgbClr val="FDE8E8"/>
          </a:solidFill>
          <a:ln>
            <a:solidFill>
              <a:srgbClr val="F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F0E08"/>
                </a:solidFill>
              </a:rPr>
              <a:t>Inactive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16552" y="338328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Edit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" y="3657600"/>
            <a:ext cx="5084064" cy="365760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" y="4017010"/>
            <a:ext cx="5084064" cy="6350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" y="374904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Holiday Glow Kit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93392" y="37490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tiktok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62072" y="37490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organic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0752" y="3749040"/>
            <a:ext cx="640080" cy="201168"/>
          </a:xfrm>
          <a:prstGeom prst="rect">
            <a:avLst/>
          </a:prstGeom>
          <a:solidFill>
            <a:srgbClr val="D4EDE4"/>
          </a:solidFill>
          <a:ln>
            <a:solidFill>
              <a:srgbClr val="D4E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30752" y="37490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C5E"/>
                </a:solidFill>
              </a:rPr>
              <a:t>Active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6552" y="37490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Edit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" y="4023360"/>
            <a:ext cx="50840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" y="4382770"/>
            <a:ext cx="5084064" cy="6350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" y="41148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Fragrance Fit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93392" y="411480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facebook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62072" y="411480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retargeting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30752" y="4114800"/>
            <a:ext cx="640080" cy="201168"/>
          </a:xfrm>
          <a:prstGeom prst="rect">
            <a:avLst/>
          </a:prstGeom>
          <a:solidFill>
            <a:srgbClr val="FDE8E8"/>
          </a:solidFill>
          <a:ln>
            <a:solidFill>
              <a:srgbClr val="F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30752" y="4114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F0E08"/>
                </a:solidFill>
              </a:rPr>
              <a:t>Inactive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16552" y="41148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Edit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" y="6355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D7A8C"/>
                </a:solidFill>
              </a:rPr>
              <a:t>Campaign List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1325880"/>
            <a:ext cx="5888736" cy="525780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89320" y="1325880"/>
            <a:ext cx="5888736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13716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1F1"/>
                </a:solidFill>
              </a:rPr>
              <a:t>Shopify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Recommendation Engine App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89320" y="1783080"/>
            <a:ext cx="588873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0" y="18470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← Bold Lip Summer — Quiz Builder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369296" y="1828800"/>
            <a:ext cx="1097280" cy="256032"/>
          </a:xfrm>
          <a:prstGeom prst="rect">
            <a:avLst/>
          </a:prstGeom>
          <a:solidFill>
            <a:srgbClr val="00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69296" y="1828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Preview Quiz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44584" y="182880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44584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Activate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9048" y="2167128"/>
            <a:ext cx="24231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08776" y="22585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Questions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90488" y="2532888"/>
            <a:ext cx="2240280" cy="658368"/>
          </a:xfrm>
          <a:prstGeom prst="rect">
            <a:avLst/>
          </a:prstGeom>
          <a:solidFill>
            <a:srgbClr val="E8F5F0"/>
          </a:solidFill>
          <a:ln w="12700">
            <a:solidFill>
              <a:srgbClr val="00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81928" y="26243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8C5E"/>
                </a:solidFill>
              </a:rPr>
              <a:t>Q1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28072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What's your skin type?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74736" y="2752344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↑↓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90488" y="3337560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81928" y="34290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D7A8C"/>
                </a:solidFill>
              </a:rPr>
              <a:t>Q2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0216" y="36118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Preferred finish?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74736" y="3557016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↑↓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90488" y="4142232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81928" y="42336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D7A8C"/>
                </a:solidFill>
              </a:rPr>
              <a:t>Q3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216" y="44165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Coverage level?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74736" y="4361688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↑↓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90488" y="4946904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81928" y="5038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D7A8C"/>
                </a:solidFill>
              </a:rPr>
              <a:t>Q4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0216" y="52212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Skin concern?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74736" y="516636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↑↓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0488" y="58247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C5E"/>
                </a:solidFill>
              </a:rPr>
              <a:t>+ Add Question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86800" y="2167128"/>
            <a:ext cx="2962656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96528" y="2258568"/>
            <a:ext cx="2779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Q1: What's your skin type?   (single-select)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78240" y="2551176"/>
            <a:ext cx="2779776" cy="256032"/>
          </a:xfrm>
          <a:prstGeom prst="rect">
            <a:avLst/>
          </a:prstGeom>
          <a:solidFill>
            <a:srgbClr val="F0F9F5"/>
          </a:solidFill>
          <a:ln w="12700">
            <a:solidFill>
              <a:srgbClr val="00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69680" y="25968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Option: Dry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15400" y="2852928"/>
            <a:ext cx="2596896" cy="32004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61120" y="291693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tag: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217152" y="2898648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62872" y="29169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hydrating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78440" y="291693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w: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561319" y="2898648"/>
            <a:ext cx="320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588752" y="291693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C5E"/>
                </a:solidFill>
              </a:rPr>
              <a:t>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15400" y="3273552"/>
            <a:ext cx="2596896" cy="32004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61120" y="333756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tag: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17152" y="3319272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62872" y="333756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nourishing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78440" y="33375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w: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561319" y="3319272"/>
            <a:ext cx="320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588752" y="33375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C5E"/>
                </a:solidFill>
              </a:rPr>
              <a:t>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3785616"/>
            <a:ext cx="2779776" cy="256032"/>
          </a:xfrm>
          <a:prstGeom prst="rect">
            <a:avLst/>
          </a:prstGeom>
          <a:solidFill>
            <a:srgbClr val="F0F9F5"/>
          </a:solidFill>
          <a:ln w="12700">
            <a:solidFill>
              <a:srgbClr val="00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869680" y="383133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Option: Oily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15400" y="4087368"/>
            <a:ext cx="2596896" cy="32004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61120" y="41513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tag: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217152" y="4133088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262872" y="4151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matte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78440" y="415137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w: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561319" y="4133088"/>
            <a:ext cx="320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588752" y="4151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C5E"/>
                </a:solidFill>
              </a:rPr>
              <a:t>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15400" y="4507992"/>
            <a:ext cx="2596896" cy="32004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961120" y="457200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tag: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217152" y="4553712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62872" y="45720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oil-control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78440" y="45720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w: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561319" y="4553712"/>
            <a:ext cx="320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588752" y="45720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C5E"/>
                </a:solidFill>
              </a:rPr>
              <a:t>7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778240" y="5020056"/>
            <a:ext cx="2779776" cy="256032"/>
          </a:xfrm>
          <a:prstGeom prst="rect">
            <a:avLst/>
          </a:prstGeom>
          <a:solidFill>
            <a:srgbClr val="F0F9F5"/>
          </a:solidFill>
          <a:ln w="12700">
            <a:solidFill>
              <a:srgbClr val="00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869680" y="506577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Option: Combo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400" y="5321808"/>
            <a:ext cx="2596896" cy="32004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61120" y="538581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tag: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217152" y="5367528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262872" y="538581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balancing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378440" y="538581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w: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61319" y="5367528"/>
            <a:ext cx="320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588752" y="538581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C5E"/>
                </a:solidFill>
              </a:rPr>
              <a:t>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915400" y="5742432"/>
            <a:ext cx="2596896" cy="32004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961120" y="580644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tag: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17152" y="5788152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262872" y="58064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matte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378440" y="5806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w: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561319" y="5788152"/>
            <a:ext cx="320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588752" y="58064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C5E"/>
                </a:solidFill>
              </a:rP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53912" y="6355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D7A8C"/>
                </a:solidFill>
              </a:rPr>
              <a:t>Quiz Builder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Admin UI — Campaign Preview &amp; Recommendation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303520" cy="525780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035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1F1"/>
                </a:solidFill>
              </a:rPr>
              <a:t>Shopify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Recommendation Engine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5623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← Campaign Settings — Bold Lip Summer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21992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3134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Campaign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7249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Campaign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2907792"/>
            <a:ext cx="4800600" cy="29260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944368"/>
            <a:ext cx="4690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Bold Lip Summer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1821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UTM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364992"/>
            <a:ext cx="4800600" cy="29260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401568"/>
            <a:ext cx="4690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instagram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6393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UTM 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3822192"/>
            <a:ext cx="4800600" cy="29260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858768"/>
            <a:ext cx="4690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paid_social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09651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UTM Campaign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4279392"/>
            <a:ext cx="4800600" cy="29260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4315968"/>
            <a:ext cx="4690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bold_lip_2026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99432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6908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Match Mode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946904"/>
            <a:ext cx="640080" cy="237744"/>
          </a:xfrm>
          <a:prstGeom prst="rect">
            <a:avLst/>
          </a:prstGeom>
          <a:solidFill>
            <a:srgbClr val="00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94690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ALL (AND)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4946904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94690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ANY (OR)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68112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5559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Result Limits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57881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Max Tags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" y="597103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97103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7881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Max Products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17320" y="597103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597103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6355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D7A8C"/>
                </a:solidFill>
              </a:rPr>
              <a:t>Campaign Settings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1325880"/>
            <a:ext cx="5888736" cy="525780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1325880"/>
            <a:ext cx="5888736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13716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1F1"/>
                </a:solidFill>
              </a:rPr>
              <a:t>Shopify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Recommendation Engine App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1783080"/>
            <a:ext cx="588873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18562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Preview — Quiz Results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2240280"/>
            <a:ext cx="561441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23134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Your Answers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2" y="25694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Q1: Skin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27432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Dry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4152" y="25694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Q2: Finish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74152" y="27432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Matte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2952" y="25694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Q3: Coverage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2952" y="27432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5E"/>
                </a:solidFill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429000"/>
            <a:ext cx="561441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3520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Recommended Products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45352" y="3794760"/>
            <a:ext cx="1234440" cy="1005840"/>
          </a:xfrm>
          <a:prstGeom prst="rect">
            <a:avLst/>
          </a:prstGeom>
          <a:solidFill>
            <a:srgbClr val="F6F6F7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5352" y="3794760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[ img 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484632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Matte Fix Foundation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510235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7A8C"/>
                </a:solidFill>
              </a:rPr>
              <a:t>$42.00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45352" y="5303520"/>
            <a:ext cx="1234440" cy="201168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5352" y="53035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C5E"/>
                </a:solidFill>
              </a:rPr>
              <a:t>Score: 19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45352" y="5532120"/>
            <a:ext cx="1234440" cy="237744"/>
          </a:xfrm>
          <a:prstGeom prst="rect">
            <a:avLst/>
          </a:prstGeom>
          <a:solidFill>
            <a:srgbClr val="00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5352" y="553212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Add to Cart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0" y="3794760"/>
            <a:ext cx="1234440" cy="1005840"/>
          </a:xfrm>
          <a:prstGeom prst="rect">
            <a:avLst/>
          </a:prstGeom>
          <a:solidFill>
            <a:srgbClr val="F6F6F7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0" y="3794760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[ img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0" y="484632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Velvet Lip Colour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10235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7A8C"/>
                </a:solidFill>
              </a:rPr>
              <a:t>$28.00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0" y="5303520"/>
            <a:ext cx="1234440" cy="201168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20" y="53035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C5E"/>
                </a:solidFill>
              </a:rPr>
              <a:t>Score: 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89520" y="5532120"/>
            <a:ext cx="1234440" cy="237744"/>
          </a:xfrm>
          <a:prstGeom prst="rect">
            <a:avLst/>
          </a:prstGeom>
          <a:solidFill>
            <a:srgbClr val="00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89520" y="553212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Add to Cart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33688" y="3794760"/>
            <a:ext cx="1234440" cy="1005840"/>
          </a:xfrm>
          <a:prstGeom prst="rect">
            <a:avLst/>
          </a:prstGeom>
          <a:solidFill>
            <a:srgbClr val="F6F6F7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33688" y="3794760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[ img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33688" y="484632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Hydra-Matte Serum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33688" y="510235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7A8C"/>
                </a:solidFill>
              </a:rPr>
              <a:t>$56.00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33688" y="5303520"/>
            <a:ext cx="1234440" cy="201168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33688" y="53035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C5E"/>
                </a:solidFill>
              </a:rPr>
              <a:t>Score: 11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33688" y="5532120"/>
            <a:ext cx="1234440" cy="237744"/>
          </a:xfrm>
          <a:prstGeom prst="rect">
            <a:avLst/>
          </a:prstGeom>
          <a:solidFill>
            <a:srgbClr val="00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33688" y="553212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Add to Cart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77856" y="3794760"/>
            <a:ext cx="1234440" cy="1005840"/>
          </a:xfrm>
          <a:prstGeom prst="rect">
            <a:avLst/>
          </a:prstGeom>
          <a:solidFill>
            <a:srgbClr val="F6F6F7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77856" y="3794760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[ img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77856" y="484632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Long-Wear Concealer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7A8C"/>
                </a:solidFill>
              </a:rPr>
              <a:t>$35.00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277856" y="5303520"/>
            <a:ext cx="1234440" cy="201168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77856" y="53035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C5E"/>
                </a:solidFill>
              </a:rPr>
              <a:t>Score: 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77856" y="5532120"/>
            <a:ext cx="1234440" cy="237744"/>
          </a:xfrm>
          <a:prstGeom prst="rect">
            <a:avLst/>
          </a:prstGeom>
          <a:solidFill>
            <a:srgbClr val="00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277856" y="553212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Add to Cart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53912" y="6355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D7A8C"/>
                </a:solidFill>
              </a:rPr>
              <a:t>Preview Modal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Customer UI — Storefront Quiz Flow (recommendation.liquid)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40312" cy="53492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BEC5"/>
                </a:solidFill>
              </a:rPr>
              <a:t>← Shopify Storefront   mystoredemo.myshopify.com/pages/find-your-match?utm_source=instagram&amp;utm_campaign=bold_lip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38728" y="1691640"/>
            <a:ext cx="256032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6916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D7A8C"/>
                </a:solidFill>
              </a:rPr>
              <a:t>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103120"/>
            <a:ext cx="548640" cy="548640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8C5E"/>
                </a:solidFill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</a:rPr>
              <a:t>Find Your
Perfect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76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D7A8C"/>
                </a:solidFill>
              </a:rPr>
              <a:t>Answer a few quick questions and we'll recommend the best products for 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690872"/>
            <a:ext cx="2377440" cy="384048"/>
          </a:xfrm>
          <a:prstGeom prst="rect">
            <a:avLst/>
          </a:prstGeom>
          <a:solidFill>
            <a:srgbClr val="00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908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Take the Quiz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1208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Takes ~1 minute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1850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0B58A"/>
                </a:solidFill>
              </a:rPr>
              <a:t>Step 1 — Intro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16002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43216" y="1691640"/>
            <a:ext cx="256032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916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D7A8C"/>
                </a:solidFill>
              </a:rPr>
              <a:t>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2075688"/>
            <a:ext cx="2926080" cy="6400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8" y="2075688"/>
            <a:ext cx="1170432" cy="64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222199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D7A8C"/>
                </a:solidFill>
              </a:rPr>
              <a:t>QUESTION 2 OF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245973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Which finish do you prefer?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289864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D7A8C"/>
                </a:solidFill>
              </a:rPr>
              <a:t>Select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36008" y="3136392"/>
            <a:ext cx="2926080" cy="402336"/>
          </a:xfrm>
          <a:prstGeom prst="rect">
            <a:avLst/>
          </a:prstGeom>
          <a:solidFill>
            <a:srgbClr val="1A1A1A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32278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Matte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36008" y="3666744"/>
            <a:ext cx="2926080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375818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Glossy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36008" y="4197096"/>
            <a:ext cx="2926080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428853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Satin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36008" y="4727448"/>
            <a:ext cx="2926080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8888" y="481888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Dewy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36008" y="5696712"/>
            <a:ext cx="822960" cy="329184"/>
          </a:xfrm>
          <a:prstGeom prst="rect">
            <a:avLst/>
          </a:prstGeom>
          <a:solidFill>
            <a:srgbClr val="FFFFFF"/>
          </a:solidFill>
          <a:ln w="254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569671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← Back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39128" y="5696712"/>
            <a:ext cx="822960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9128" y="569671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Next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631850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0B58A"/>
                </a:solidFill>
              </a:rPr>
              <a:t>Step 2 — Question (single-select)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02752" y="1600200"/>
            <a:ext cx="3611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67160" y="1691640"/>
            <a:ext cx="256032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67160" y="16916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D7A8C"/>
                </a:solidFill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2" y="1764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Your Recommendations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01400" y="180136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01400" y="18013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503152" y="180136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503152" y="18013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2167128"/>
            <a:ext cx="1481328" cy="1463040"/>
          </a:xfrm>
          <a:prstGeom prst="rect">
            <a:avLst/>
          </a:prstGeom>
          <a:solidFill>
            <a:srgbClr val="F6F6F7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2167128"/>
            <a:ext cx="14813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[ product
  image 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367588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Matte Fix
Foundation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050792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7A8C"/>
                </a:solidFill>
              </a:rPr>
              <a:t>$42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4251959"/>
            <a:ext cx="1481328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4251959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Add to Cart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68128" y="2167128"/>
            <a:ext cx="1481328" cy="1463040"/>
          </a:xfrm>
          <a:prstGeom prst="rect">
            <a:avLst/>
          </a:prstGeom>
          <a:solidFill>
            <a:srgbClr val="F6F6F7"/>
          </a:solidFill>
          <a:ln w="12700">
            <a:solidFill>
              <a:srgbClr val="D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68128" y="2167128"/>
            <a:ext cx="14813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D7A8C"/>
                </a:solidFill>
              </a:rPr>
              <a:t>[ product
  image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68128" y="367588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Velvet Lip
Colour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68128" y="4050792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7A8C"/>
                </a:solidFill>
              </a:rPr>
              <a:t>$28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68128" y="4251959"/>
            <a:ext cx="1481328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68128" y="4251959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Add to Cart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31352" y="580644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D7A8C"/>
                </a:solidFill>
              </a:rPr>
              <a:t>retake quiz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2752" y="6318504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0B58A"/>
                </a:solidFill>
              </a:rPr>
              <a:t>Step 3 — Results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50208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C948"/>
                </a:solidFill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C948"/>
                </a:solidFill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Merchant Admin —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743200" cy="457200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4320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58A"/>
                </a:solidFill>
              </a:rPr>
              <a:t>Campaign 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221992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Create UTM-targeted campaigns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026664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992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Match by utm_source, medium, campaign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831336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03904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AND / OR match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4636008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0857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Activate / deactivate anytime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463040"/>
            <a:ext cx="2743200" cy="457200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1463040"/>
            <a:ext cx="274320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58A"/>
                </a:solidFill>
              </a:rPr>
              <a:t>Quiz Builder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38144" y="2221992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21945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Multi-step questionnaire editor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38144" y="3026664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3592" y="29992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Single-select &amp; multi-select questions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38144" y="3831336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3803904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Drag-to-reorder questions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38144" y="4636008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460857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Conditional branching between questions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1463040"/>
            <a:ext cx="2743200" cy="457200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1463040"/>
            <a:ext cx="274320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58A"/>
                </a:solidFill>
              </a:rPr>
              <a:t>Scoring Rules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45936" y="2221992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4" y="21945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Map each answer option to product tags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45936" y="3026664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4" y="29992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Assign weight 1–10 per rule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5936" y="3831336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1384" y="3803904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Support product ID or collection targeting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45936" y="4636008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4" y="460857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Multiple rules per option accumulate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89136" y="1463040"/>
            <a:ext cx="2743200" cy="457200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89136" y="1463040"/>
            <a:ext cx="274320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58A"/>
                </a:solidFill>
              </a:rPr>
              <a:t>Preview &amp; 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53728" y="2221992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9176" y="21945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Walk through quiz as a customer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53728" y="3026664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9176" y="29992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See ranked recommendations live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53728" y="3831336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9176" y="3803904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Validate before going live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53728" y="4636008"/>
            <a:ext cx="73152" cy="2926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9176" y="460857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 scoring result with scores shown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Customer-Facing — Quiz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" cy="7772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63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Inline Quiz Rendering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1051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Served directly on Shopify store pages via App Proxy — no pop-ups, no redirects, fully on-brand.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54864" cy="7772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834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UTM-Aware Quiz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18211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Only shows the quiz relevant to the visitor's campaign; different UTMs trigger different quizzes.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54864" cy="7772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206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Dynamic Question Branching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5371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Conditional logic routes visitors to different follow-up questions based on their selection.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77840"/>
            <a:ext cx="54864" cy="7772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5577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Progress Indicator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92531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Shows Q1 of 5 style counter and question type hint (single / multi-select) for better UX.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63040"/>
            <a:ext cx="54864" cy="7772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463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Weighted Scoring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81051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Each answer contributes a weight to product tags. Scores stack across all answers before ranking.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834640"/>
            <a:ext cx="54864" cy="7772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834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Real-Time Shopify Product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18211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After quiz completion, the engine queries Shopify GraphQL with the top-weighted tags.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206240"/>
            <a:ext cx="54864" cy="7772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206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Re-Ranked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55371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Products are re-ranked by their cumulative tag-weight score — most relevant product comes first.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577840"/>
            <a:ext cx="54864" cy="7772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5577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Rich Product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592531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Recommendations show image, title, price — with add-to-cart via Keen Slider carousel.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371600"/>
            <a:ext cx="27432" cy="502920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291840" cy="484632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291840" cy="7315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58A"/>
                </a:solidFill>
              </a:rPr>
              <a:t>Admin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50008"/>
            <a:ext cx="109728" cy="10972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18 + Shopify Polaris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81528"/>
            <a:ext cx="109728" cy="10972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97180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Raviger client-side routing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13048"/>
            <a:ext cx="109728" cy="10972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70332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Shopify App Bridge (embedded)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44568"/>
            <a:ext cx="109728" cy="10972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43484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Campaign &amp; Quiz Builder pages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76088"/>
            <a:ext cx="109728" cy="10972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16636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Vite build tooling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74904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BEC5"/>
                </a:solidFill>
              </a:rPr>
              <a:t>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1463040"/>
            <a:ext cx="3291840" cy="484632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1463040"/>
            <a:ext cx="3291840" cy="73152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6276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C948"/>
                </a:solidFill>
              </a:rPr>
              <a:t>Express 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2350008"/>
            <a:ext cx="109728" cy="10972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224028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Node.js + Express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081528"/>
            <a:ext cx="109728" cy="10972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297180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JWT auth middleware (admin)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3813048"/>
            <a:ext cx="109728" cy="10972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370332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HMAC verify middleware (proxy)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544568"/>
            <a:ext cx="109728" cy="10972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443484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MongoDB / Mongoose models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5276088"/>
            <a:ext cx="109728" cy="10972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8576" y="516636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Shopify Admin GraphQL client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6007608"/>
            <a:ext cx="109728" cy="10972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576" y="589788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GDPR webhook handlers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2088" y="374904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BEC5"/>
                </a:solidFill>
              </a:rPr>
              <a:t>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0416" y="1463040"/>
            <a:ext cx="3291840" cy="484632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00416" y="1463040"/>
            <a:ext cx="3291840" cy="73152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3296" y="16276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8EFF"/>
                </a:solidFill>
              </a:rPr>
              <a:t>Customer Proxy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3296" y="2350008"/>
            <a:ext cx="109728" cy="109728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4464" y="224028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App Proxy — no iframe needed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83296" y="3081528"/>
            <a:ext cx="109728" cy="109728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4464" y="297180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UTM-campaign matching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83296" y="3813048"/>
            <a:ext cx="109728" cy="109728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4464" y="370332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Scoring &amp; ranking engine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83296" y="4544568"/>
            <a:ext cx="109728" cy="109728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84464" y="443484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Shopify product query (tags)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83296" y="5276088"/>
            <a:ext cx="109728" cy="109728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516636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Session token tracking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58A"/>
                </a:solidFill>
              </a:rPr>
              <a:t>Shared Data Store: MongoDB (Campaigns · Questions · Options · Scoring Rules · Quiz Sessions · Store)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103120" cy="47548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103120" cy="45720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Campaign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3969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98064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utm_source / medium / campaign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56432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28416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match_mode (all|any)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86784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is_active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73168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4515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result_tag_limit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3153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035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result_product_limit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1417320"/>
            <a:ext cx="2103120" cy="47548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40" y="1417320"/>
            <a:ext cx="2103120" cy="457200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14813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Question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139696"/>
            <a:ext cx="91440" cy="91440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20116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campaign_id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798064"/>
            <a:ext cx="91440" cy="91440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67004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456432"/>
            <a:ext cx="91440" cy="91440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3328416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type (single|multi)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4114800"/>
            <a:ext cx="91440" cy="91440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3986784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4773168"/>
            <a:ext cx="91440" cy="91440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464515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is_required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417320"/>
            <a:ext cx="2103120" cy="47548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0" y="1417320"/>
            <a:ext cx="2103120" cy="45720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14813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Option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2139696"/>
            <a:ext cx="91440" cy="9144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20116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question_id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2798064"/>
            <a:ext cx="91440" cy="9144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267004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3456432"/>
            <a:ext cx="91440" cy="9144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3328416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83480" y="4114800"/>
            <a:ext cx="91440" cy="9144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3986784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next_question_id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1417320"/>
            <a:ext cx="2103120" cy="47548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86600" y="1417320"/>
            <a:ext cx="2103120" cy="457200"/>
          </a:xfrm>
          <a:prstGeom prst="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8040" y="14813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ScoringRule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2139696"/>
            <a:ext cx="91440" cy="91440"/>
          </a:xfrm>
          <a:prstGeom prst="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20116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option_id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2798064"/>
            <a:ext cx="91440" cy="91440"/>
          </a:xfrm>
          <a:prstGeom prst="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267004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target_type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3456432"/>
            <a:ext cx="91440" cy="91440"/>
          </a:xfrm>
          <a:prstGeom prst="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3328416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target_value (tag/id)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4114800"/>
            <a:ext cx="91440" cy="91440"/>
          </a:xfrm>
          <a:prstGeom prst="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3986784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weight (1–10)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1417320"/>
            <a:ext cx="2103120" cy="47548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26880" y="1417320"/>
            <a:ext cx="21031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20" y="14813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QuizSession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64040" y="2139696"/>
            <a:ext cx="91440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6920" y="20116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campaign_id, shop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64040" y="2798064"/>
            <a:ext cx="91440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46920" y="267004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answers[ 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64040" y="3456432"/>
            <a:ext cx="91440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46920" y="3328416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result_product_ids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64040" y="4114800"/>
            <a:ext cx="91440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46920" y="3986784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utm params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64040" y="4773168"/>
            <a:ext cx="91440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464515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completed_at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58A"/>
                </a:solidFill>
              </a:rPr>
              <a:t>Campaign  1:N  Question  1:N  Option  1:N  ScoringRule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6400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00B58A"/>
                </a:solidFill>
              </a:rPr>
              <a:t>QuizSession  N:1  Campaign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End-to-End — Merchant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651760" cy="47548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58A"/>
                </a:solidFill>
              </a:rPr>
              <a:t>1  Create Campaign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2257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Name the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9125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 utm_source / utm_medium / utm_campaign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5993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Choose AND or OR match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2861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 tag and product result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520440"/>
            <a:ext cx="338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58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5848" y="1417320"/>
            <a:ext cx="2651760" cy="47548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55848" y="1417320"/>
            <a:ext cx="265176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58A"/>
                </a:solidFill>
              </a:rPr>
              <a:t>2  Build Quiz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38728" y="232257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608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Add questions (single or multi-select)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8728" y="319125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1608" y="3063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Add 2+ answer options per question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8728" y="405993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8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Reorder questions with up/down arrows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38728" y="492861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8" y="4800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Optional: link options to jump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520440"/>
            <a:ext cx="338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58A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1417320"/>
            <a:ext cx="2651760" cy="47548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1417320"/>
            <a:ext cx="265176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58A"/>
                </a:solidFill>
              </a:rPr>
              <a:t>3  Define Scoring Rules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7376" y="232257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0256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For each option, add scoring rules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37376" y="319125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3063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Map option → product tag + weight (1–10)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7376" y="405993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0256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Multiple rules per option allowed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37376" y="492861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0256" y="4800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Higher weight = stronger signal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520440"/>
            <a:ext cx="338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58A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53144" y="1417320"/>
            <a:ext cx="2651760" cy="47548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53144" y="1417320"/>
            <a:ext cx="265176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58A"/>
                </a:solidFill>
              </a:rPr>
              <a:t>4  Preview &amp; Activate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36024" y="232257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18904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Click Preview to walk through quiz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36024" y="319125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18904" y="3063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Verify ranked recommendations are correct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36024" y="405993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8904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Toggle campaign to Active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36024" y="4928616"/>
            <a:ext cx="91440" cy="91440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18904" y="4800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Share UTM link in campaigns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End-to-End — Customer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0" cy="841248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84124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58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08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58A"/>
                </a:solidFill>
              </a:rPr>
              <a:t>Visit via UTM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20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Customer clicks an Instagram / email / ad link carrying utm_source, utm_medium, and utm_campaign query params.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13432"/>
            <a:ext cx="10972800" cy="841248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13432"/>
            <a:ext cx="109728" cy="841248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8E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EFF"/>
                </a:solidFill>
              </a:rPr>
              <a:t>Quiz 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7063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App Proxy matches UTM params to an active campaign, renders the first question inline on the Shopify page.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9544"/>
            <a:ext cx="10972800" cy="841248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9544"/>
            <a:ext cx="109728" cy="84124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9242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C948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009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C948"/>
                </a:solidFill>
              </a:rPr>
              <a:t>Answer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66744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Customer picks single or multi-select answers. Conditional branching routes to the next relevant question. Progress bar shown.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05656"/>
            <a:ext cx="10972800" cy="841248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05656"/>
            <a:ext cx="109728" cy="841248"/>
          </a:xfrm>
          <a:prstGeom prst="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8853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F50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9709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50"/>
                </a:solidFill>
              </a:rPr>
              <a:t>Submit Quiz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62856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After the final question, customer clicks 'See My Results'. Selected option IDs sent to the scoring endpoint.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01768"/>
            <a:ext cx="10972800" cy="841248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001768"/>
            <a:ext cx="109728" cy="8412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846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B59B6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0932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Scoring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45896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Server aggregates weights per tag from all selected options, sorts tags by total score, queries Shopify products by top tags.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97880"/>
            <a:ext cx="10972800" cy="841248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897880"/>
            <a:ext cx="109728" cy="8412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080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4C3C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9893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View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6355080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Ranked product cards displayed in a carousel with image, title, price. Customer adds to cart directly from the quiz modal.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the Scoring Algorithm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303520" cy="493776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64008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36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58A"/>
                </a:solidFill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73152" cy="25603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574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58A"/>
                </a:solidFill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Gather all option_ids the customer selected across every question.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43200"/>
            <a:ext cx="73152" cy="25603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517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58A"/>
                </a:solidFill>
              </a:rPr>
              <a:t>Fetch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Query ScoringRule for those option_ids → list of {target_value, weight}.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37560"/>
            <a:ext cx="73152" cy="25603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58A"/>
                </a:solidFill>
              </a:rPr>
              <a:t>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461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Sum weights per tag: scores['matte'] += weight for each matching rule.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31920"/>
            <a:ext cx="73152" cy="25603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404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58A"/>
                </a:solidFill>
              </a:rPr>
              <a:t>Sort 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404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Sort tags by total score descending, take top N (result_tag_limit).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526280"/>
            <a:ext cx="73152" cy="25603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4348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58A"/>
                </a:solidFill>
              </a:rPr>
              <a:t>Query Shopify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348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GraphQL: products(query: 'tag:matte OR tag:glossy OR …') from catalog.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120640"/>
            <a:ext cx="73152" cy="25603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0292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58A"/>
                </a:solidFill>
              </a:rPr>
              <a:t>Re-Rank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0292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Each product's score = sum of scores for its tags that appear in our map.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715000"/>
            <a:ext cx="73152" cy="256032"/>
          </a:xfrm>
          <a:prstGeom prst="rect">
            <a:avLst/>
          </a:prstGeom>
          <a:solidFill>
            <a:srgbClr val="00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6235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58A"/>
                </a:solidFill>
              </a:rPr>
              <a:t>Slice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6235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Return top M products (result_product_limit) sorted by score.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417320"/>
            <a:ext cx="5669280" cy="493776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1417320"/>
            <a:ext cx="5669280" cy="6400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5361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C948"/>
                </a:solidFill>
              </a:rPr>
              <a:t>Example Walkthrough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0116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Customer answers: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3134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Q1 → 'Matte finish'  (tag: matte, w=8)  (tag: long-lasting, w=5)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61518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Q2 → 'Daytime look'  (tag: natural, w=7)  (tag: matte, w=4)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9900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Aggregated scores: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2918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58A"/>
                </a:solidFill>
              </a:rPr>
              <a:t>  matte        = 8 + 4 = 12  ← highest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5935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long-lasting =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8953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natural      =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2702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Top tags queried in Shopify: matte, natural, long-lasting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6451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Product re-ranking: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94690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58A"/>
                </a:solidFill>
              </a:rPr>
              <a:t>  P1 [matte + natural]:      12+7 = 19  ← #1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24865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P3 [natural + long-lasting]: 7+5 = 12  ← #2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5504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P2 [matte]:                   12 = 12  ← #2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